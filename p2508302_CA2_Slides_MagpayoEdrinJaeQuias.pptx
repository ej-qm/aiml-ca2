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Poppins Bold" charset="1" panose="00000800000000000000"/>
      <p:regular r:id="rId16"/>
    </p:embeddedFont>
    <p:embeddedFont>
      <p:font typeface="Poppins" charset="1" panose="000005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.png" Type="http://schemas.openxmlformats.org/officeDocument/2006/relationships/image"/><Relationship Id="rId11" Target="../media/image4.svg" Type="http://schemas.openxmlformats.org/officeDocument/2006/relationships/image"/><Relationship Id="rId12" Target="../media/image16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3.png" Type="http://schemas.openxmlformats.org/officeDocument/2006/relationships/image"/><Relationship Id="rId9" Target="../media/image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8743950"/>
            <a:ext cx="16230600" cy="1028700"/>
            <a:chOff x="0" y="0"/>
            <a:chExt cx="2287793" cy="14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347797" y="7215876"/>
            <a:ext cx="2438700" cy="1132832"/>
            <a:chOff x="0" y="0"/>
            <a:chExt cx="343748" cy="1596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43748" cy="159679"/>
            </a:xfrm>
            <a:custGeom>
              <a:avLst/>
              <a:gdLst/>
              <a:ahLst/>
              <a:cxnLst/>
              <a:rect r="r" b="b" t="t" l="l"/>
              <a:pathLst>
                <a:path h="159679" w="343748">
                  <a:moveTo>
                    <a:pt x="63492" y="0"/>
                  </a:moveTo>
                  <a:lnTo>
                    <a:pt x="280256" y="0"/>
                  </a:lnTo>
                  <a:cubicBezTo>
                    <a:pt x="315322" y="0"/>
                    <a:pt x="343748" y="28426"/>
                    <a:pt x="343748" y="63492"/>
                  </a:cubicBezTo>
                  <a:lnTo>
                    <a:pt x="343748" y="96187"/>
                  </a:lnTo>
                  <a:cubicBezTo>
                    <a:pt x="343748" y="131252"/>
                    <a:pt x="315322" y="159679"/>
                    <a:pt x="280256" y="159679"/>
                  </a:cubicBezTo>
                  <a:lnTo>
                    <a:pt x="63492" y="159679"/>
                  </a:lnTo>
                  <a:cubicBezTo>
                    <a:pt x="28426" y="159679"/>
                    <a:pt x="0" y="131252"/>
                    <a:pt x="0" y="96187"/>
                  </a:cubicBezTo>
                  <a:lnTo>
                    <a:pt x="0" y="63492"/>
                  </a:lnTo>
                  <a:cubicBezTo>
                    <a:pt x="0" y="28426"/>
                    <a:pt x="28426" y="0"/>
                    <a:pt x="63492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43748" cy="1977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501503" y="7107191"/>
            <a:ext cx="2438700" cy="1241517"/>
            <a:chOff x="0" y="0"/>
            <a:chExt cx="343748" cy="174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43748" cy="174999"/>
            </a:xfrm>
            <a:custGeom>
              <a:avLst/>
              <a:gdLst/>
              <a:ahLst/>
              <a:cxnLst/>
              <a:rect r="r" b="b" t="t" l="l"/>
              <a:pathLst>
                <a:path h="174999" w="343748">
                  <a:moveTo>
                    <a:pt x="63492" y="0"/>
                  </a:moveTo>
                  <a:lnTo>
                    <a:pt x="280256" y="0"/>
                  </a:lnTo>
                  <a:cubicBezTo>
                    <a:pt x="315322" y="0"/>
                    <a:pt x="343748" y="28426"/>
                    <a:pt x="343748" y="63492"/>
                  </a:cubicBezTo>
                  <a:lnTo>
                    <a:pt x="343748" y="111506"/>
                  </a:lnTo>
                  <a:cubicBezTo>
                    <a:pt x="343748" y="146572"/>
                    <a:pt x="315322" y="174999"/>
                    <a:pt x="280256" y="174999"/>
                  </a:cubicBezTo>
                  <a:lnTo>
                    <a:pt x="63492" y="174999"/>
                  </a:lnTo>
                  <a:cubicBezTo>
                    <a:pt x="28426" y="174999"/>
                    <a:pt x="0" y="146572"/>
                    <a:pt x="0" y="111506"/>
                  </a:cubicBezTo>
                  <a:lnTo>
                    <a:pt x="0" y="63492"/>
                  </a:lnTo>
                  <a:cubicBezTo>
                    <a:pt x="0" y="28426"/>
                    <a:pt x="28426" y="0"/>
                    <a:pt x="63492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43748" cy="213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4212645" y="2700871"/>
            <a:ext cx="9862709" cy="3276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36"/>
              </a:lnSpc>
            </a:pPr>
            <a:r>
              <a:rPr lang="en-US" sz="1152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AIML CA2 </a:t>
            </a:r>
          </a:p>
          <a:p>
            <a:pPr algn="ctr">
              <a:lnSpc>
                <a:spcPts val="12336"/>
              </a:lnSpc>
            </a:pPr>
            <a:r>
              <a:rPr lang="en-US" sz="1152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Presentation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744683" y="3428669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682852" y="6134239"/>
            <a:ext cx="10922297" cy="968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0"/>
              </a:lnSpc>
            </a:pPr>
            <a:r>
              <a:rPr lang="en-US" sz="2300" spc="255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SEGMENTATION &amp; ENERGY CONSUMPTION FORECASTING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95308" y="7343747"/>
            <a:ext cx="2543678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Edrin Jae Quias Magapayo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49014" y="7453587"/>
            <a:ext cx="2543678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p2508302</a:t>
            </a:r>
          </a:p>
        </p:txBody>
      </p:sp>
      <p:sp>
        <p:nvSpPr>
          <p:cNvPr name="Freeform 25" id="25"/>
          <p:cNvSpPr/>
          <p:nvPr/>
        </p:nvSpPr>
        <p:spPr>
          <a:xfrm flipH="true" flipV="true" rot="0">
            <a:off x="13763324" y="6770189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5447285" y="891374"/>
                </a:moveTo>
                <a:lnTo>
                  <a:pt x="0" y="891374"/>
                </a:lnTo>
                <a:lnTo>
                  <a:pt x="0" y="0"/>
                </a:lnTo>
                <a:lnTo>
                  <a:pt x="5447285" y="0"/>
                </a:lnTo>
                <a:lnTo>
                  <a:pt x="5447285" y="891374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362687" y="8874098"/>
            <a:ext cx="3651569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 Part A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Customer Segmentation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094915" y="9258300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7" y="0"/>
                </a:lnTo>
                <a:lnTo>
                  <a:pt x="405337" y="405338"/>
                </a:lnTo>
                <a:lnTo>
                  <a:pt x="0" y="405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9144000" y="1906991"/>
            <a:ext cx="2031358" cy="2100088"/>
          </a:xfrm>
          <a:custGeom>
            <a:avLst/>
            <a:gdLst/>
            <a:ahLst/>
            <a:cxnLst/>
            <a:rect r="r" b="b" t="t" l="l"/>
            <a:pathLst>
              <a:path h="2100088" w="2031358">
                <a:moveTo>
                  <a:pt x="0" y="0"/>
                </a:moveTo>
                <a:lnTo>
                  <a:pt x="2031358" y="0"/>
                </a:lnTo>
                <a:lnTo>
                  <a:pt x="2031358" y="2100088"/>
                </a:lnTo>
                <a:lnTo>
                  <a:pt x="0" y="210008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274349" y="1808154"/>
            <a:ext cx="5225903" cy="3729988"/>
          </a:xfrm>
          <a:custGeom>
            <a:avLst/>
            <a:gdLst/>
            <a:ahLst/>
            <a:cxnLst/>
            <a:rect r="r" b="b" t="t" l="l"/>
            <a:pathLst>
              <a:path h="3729988" w="5225903">
                <a:moveTo>
                  <a:pt x="0" y="0"/>
                </a:moveTo>
                <a:lnTo>
                  <a:pt x="5225903" y="0"/>
                </a:lnTo>
                <a:lnTo>
                  <a:pt x="5225903" y="3729989"/>
                </a:lnTo>
                <a:lnTo>
                  <a:pt x="0" y="37299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58661" y="5670695"/>
            <a:ext cx="4859031" cy="3128001"/>
          </a:xfrm>
          <a:custGeom>
            <a:avLst/>
            <a:gdLst/>
            <a:ahLst/>
            <a:cxnLst/>
            <a:rect r="r" b="b" t="t" l="l"/>
            <a:pathLst>
              <a:path h="3128001" w="4859031">
                <a:moveTo>
                  <a:pt x="0" y="0"/>
                </a:moveTo>
                <a:lnTo>
                  <a:pt x="4859031" y="0"/>
                </a:lnTo>
                <a:lnTo>
                  <a:pt x="4859031" y="3128001"/>
                </a:lnTo>
                <a:lnTo>
                  <a:pt x="0" y="31280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23215" y="9076767"/>
            <a:ext cx="392817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A - Methodology &amp; Preprocessing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562100"/>
            <a:ext cx="9989412" cy="228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Exploration &amp; Understanding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4171" y="4003104"/>
            <a:ext cx="9105067" cy="583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9"/>
              </a:lnSpc>
            </a:pPr>
            <a:r>
              <a:rPr lang="en-US" sz="24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Group cust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omers into distinct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clusters to understand spending behavior and target specific demographics.</a:t>
            </a:r>
          </a:p>
          <a:p>
            <a:pPr algn="just">
              <a:lnSpc>
                <a:spcPts val="3060"/>
              </a:lnSpc>
            </a:pPr>
          </a:p>
          <a:p>
            <a:pPr algn="just">
              <a:lnSpc>
                <a:spcPts val="424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Overview: 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200 Customers with Age, Gender, Income, and Spending Score features.</a:t>
            </a:r>
          </a:p>
          <a:p>
            <a:pPr algn="just">
              <a:lnSpc>
                <a:spcPts val="3060"/>
              </a:lnSpc>
            </a:pPr>
          </a:p>
          <a:p>
            <a:pPr algn="just">
              <a:lnSpc>
                <a:spcPts val="424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Key Observations (EDA):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Distributions: Age and Income show fairly normal distrib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utions, while Spending Scor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 varies significantly.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Relationships: Scatter plots revealed potential clusters between Income and Spending.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Outliers: Box plots checked for anomalies in Income and Spending.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8584" y="905563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8"/>
                </a:lnTo>
                <a:lnTo>
                  <a:pt x="0" y="405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74349" y="8874098"/>
            <a:ext cx="386871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A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Model Selection (Finding 'k')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92745"/>
            <a:ext cx="8007943" cy="337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A - Methodology &amp; Preprocessing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359617" y="1761415"/>
            <a:ext cx="8006140" cy="6848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Featu</a:t>
            </a: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 Engineering: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Created Spending_Income_Ratio: Spending / Income. This helps identify "big spenders" relative to their earnings.</a:t>
            </a:r>
          </a:p>
          <a:p>
            <a:pPr algn="just">
              <a:lnSpc>
                <a:spcPts val="4249"/>
              </a:lnSpc>
            </a:pP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Preprocessing: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Scaling: Used StandardScaler to normalize Age, Income, and Spending. This is crucial because K-Means uses distance calculations, and different scales (e.g., Age 20 vs Income 50,000) would bias the model.</a:t>
            </a:r>
          </a:p>
          <a:p>
            <a:pPr algn="just">
              <a:lnSpc>
                <a:spcPts val="3400"/>
              </a:lnSpc>
            </a:pP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Algorithms Tested: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K-Means: Centroid-based, fast, scalable.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Hierarchical (Agglomerative): Good for visualizing hierarchy, but computationally heavier.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1361862" y="8164257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60029" y="2144849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145502" y="1913248"/>
            <a:ext cx="4235941" cy="6270505"/>
            <a:chOff x="0" y="0"/>
            <a:chExt cx="597079" cy="88386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7079" cy="883862"/>
            </a:xfrm>
            <a:custGeom>
              <a:avLst/>
              <a:gdLst/>
              <a:ahLst/>
              <a:cxnLst/>
              <a:rect r="r" b="b" t="t" l="l"/>
              <a:pathLst>
                <a:path h="883862" w="597079">
                  <a:moveTo>
                    <a:pt x="36553" y="0"/>
                  </a:moveTo>
                  <a:lnTo>
                    <a:pt x="560526" y="0"/>
                  </a:lnTo>
                  <a:cubicBezTo>
                    <a:pt x="570220" y="0"/>
                    <a:pt x="579518" y="3851"/>
                    <a:pt x="586373" y="10706"/>
                  </a:cubicBezTo>
                  <a:cubicBezTo>
                    <a:pt x="593228" y="17561"/>
                    <a:pt x="597079" y="26859"/>
                    <a:pt x="597079" y="36553"/>
                  </a:cubicBezTo>
                  <a:lnTo>
                    <a:pt x="597079" y="847309"/>
                  </a:lnTo>
                  <a:cubicBezTo>
                    <a:pt x="597079" y="857003"/>
                    <a:pt x="593228" y="866301"/>
                    <a:pt x="586373" y="873156"/>
                  </a:cubicBezTo>
                  <a:cubicBezTo>
                    <a:pt x="579518" y="880011"/>
                    <a:pt x="570220" y="883862"/>
                    <a:pt x="560526" y="883862"/>
                  </a:cubicBezTo>
                  <a:lnTo>
                    <a:pt x="36553" y="883862"/>
                  </a:lnTo>
                  <a:cubicBezTo>
                    <a:pt x="26859" y="883862"/>
                    <a:pt x="17561" y="880011"/>
                    <a:pt x="10706" y="873156"/>
                  </a:cubicBezTo>
                  <a:cubicBezTo>
                    <a:pt x="3851" y="866301"/>
                    <a:pt x="0" y="857003"/>
                    <a:pt x="0" y="847309"/>
                  </a:cubicBezTo>
                  <a:lnTo>
                    <a:pt x="0" y="36553"/>
                  </a:lnTo>
                  <a:cubicBezTo>
                    <a:pt x="0" y="26859"/>
                    <a:pt x="3851" y="17561"/>
                    <a:pt x="10706" y="10706"/>
                  </a:cubicBezTo>
                  <a:cubicBezTo>
                    <a:pt x="17561" y="3851"/>
                    <a:pt x="26859" y="0"/>
                    <a:pt x="365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7079" cy="9219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318584" y="905563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8"/>
                </a:lnTo>
                <a:lnTo>
                  <a:pt x="0" y="405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359433" y="7491426"/>
            <a:ext cx="4442597" cy="945061"/>
          </a:xfrm>
          <a:custGeom>
            <a:avLst/>
            <a:gdLst/>
            <a:ahLst/>
            <a:cxnLst/>
            <a:rect r="r" b="b" t="t" l="l"/>
            <a:pathLst>
              <a:path h="945061" w="4442597">
                <a:moveTo>
                  <a:pt x="0" y="0"/>
                </a:moveTo>
                <a:lnTo>
                  <a:pt x="4442597" y="0"/>
                </a:lnTo>
                <a:lnTo>
                  <a:pt x="4442597" y="945061"/>
                </a:lnTo>
                <a:lnTo>
                  <a:pt x="0" y="945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746175" y="1872169"/>
            <a:ext cx="4235941" cy="4625953"/>
            <a:chOff x="0" y="0"/>
            <a:chExt cx="597079" cy="6520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97079" cy="652054"/>
            </a:xfrm>
            <a:custGeom>
              <a:avLst/>
              <a:gdLst/>
              <a:ahLst/>
              <a:cxnLst/>
              <a:rect r="r" b="b" t="t" l="l"/>
              <a:pathLst>
                <a:path h="652054" w="597079">
                  <a:moveTo>
                    <a:pt x="36553" y="0"/>
                  </a:moveTo>
                  <a:lnTo>
                    <a:pt x="560526" y="0"/>
                  </a:lnTo>
                  <a:cubicBezTo>
                    <a:pt x="570220" y="0"/>
                    <a:pt x="579518" y="3851"/>
                    <a:pt x="586373" y="10706"/>
                  </a:cubicBezTo>
                  <a:cubicBezTo>
                    <a:pt x="593228" y="17561"/>
                    <a:pt x="597079" y="26859"/>
                    <a:pt x="597079" y="36553"/>
                  </a:cubicBezTo>
                  <a:lnTo>
                    <a:pt x="597079" y="615500"/>
                  </a:lnTo>
                  <a:cubicBezTo>
                    <a:pt x="597079" y="625195"/>
                    <a:pt x="593228" y="634492"/>
                    <a:pt x="586373" y="641347"/>
                  </a:cubicBezTo>
                  <a:cubicBezTo>
                    <a:pt x="579518" y="648202"/>
                    <a:pt x="570220" y="652054"/>
                    <a:pt x="560526" y="652054"/>
                  </a:cubicBezTo>
                  <a:lnTo>
                    <a:pt x="36553" y="652054"/>
                  </a:lnTo>
                  <a:cubicBezTo>
                    <a:pt x="26859" y="652054"/>
                    <a:pt x="17561" y="648202"/>
                    <a:pt x="10706" y="641347"/>
                  </a:cubicBezTo>
                  <a:cubicBezTo>
                    <a:pt x="3851" y="634492"/>
                    <a:pt x="0" y="625195"/>
                    <a:pt x="0" y="615500"/>
                  </a:cubicBezTo>
                  <a:lnTo>
                    <a:pt x="0" y="36553"/>
                  </a:lnTo>
                  <a:cubicBezTo>
                    <a:pt x="0" y="26859"/>
                    <a:pt x="3851" y="17561"/>
                    <a:pt x="10706" y="10706"/>
                  </a:cubicBezTo>
                  <a:cubicBezTo>
                    <a:pt x="17561" y="3851"/>
                    <a:pt x="26859" y="0"/>
                    <a:pt x="3655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131D">
                    <a:alpha val="85000"/>
                  </a:srgbClr>
                </a:gs>
                <a:gs pos="100000">
                  <a:srgbClr val="0F2E4A">
                    <a:alpha val="85000"/>
                  </a:srgbClr>
                </a:gs>
              </a:gsLst>
              <a:lin ang="0"/>
            </a:gradFill>
            <a:ln w="38100" cap="sq">
              <a:solidFill>
                <a:srgbClr val="FFFFFF">
                  <a:alpha val="84706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597079" cy="6901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88140" y="6839092"/>
            <a:ext cx="9755085" cy="3194790"/>
          </a:xfrm>
          <a:custGeom>
            <a:avLst/>
            <a:gdLst/>
            <a:ahLst/>
            <a:cxnLst/>
            <a:rect r="r" b="b" t="t" l="l"/>
            <a:pathLst>
              <a:path h="3194790" w="9755085">
                <a:moveTo>
                  <a:pt x="0" y="0"/>
                </a:moveTo>
                <a:lnTo>
                  <a:pt x="9755085" y="0"/>
                </a:lnTo>
                <a:lnTo>
                  <a:pt x="9755085" y="3194791"/>
                </a:lnTo>
                <a:lnTo>
                  <a:pt x="0" y="3194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236249" y="9050337"/>
            <a:ext cx="386871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A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Results &amp; Cluster Profiles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1878889"/>
            <a:ext cx="6211609" cy="445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A - Model Selection (Finding 'k')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304734" y="2824048"/>
            <a:ext cx="3183901" cy="341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Elbow Method: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Looked for the "elbow" point where inertia reduction slows down.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Silhouette Score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</a:p>
          <a:p>
            <a:pPr algn="just" marL="388620" indent="-194310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Measured how similar an object is to its own cluster compared to other clusters.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72195" y="2039847"/>
            <a:ext cx="318390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Determining Optimal Clusters (</a:t>
            </a: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</a:t>
            </a: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):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549379" y="2824048"/>
            <a:ext cx="3428186" cy="508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Compared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=2 to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=10.</a:t>
            </a:r>
          </a:p>
          <a:p>
            <a:pPr algn="just">
              <a:lnSpc>
                <a:spcPts val="3060"/>
              </a:lnSpc>
            </a:pP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Result: </a:t>
            </a:r>
          </a:p>
          <a:p>
            <a:pPr algn="just" marL="388620" indent="-194310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Chosen optimal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(e.g., 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=5) based on the highest Silhouette Score and clear Elbow bend.</a:t>
            </a:r>
          </a:p>
          <a:p>
            <a:pPr algn="just">
              <a:lnSpc>
                <a:spcPts val="3400"/>
              </a:lnSpc>
            </a:pP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 Winner:</a:t>
            </a:r>
          </a:p>
          <a:p>
            <a:pPr algn="just" marL="388620" indent="-194310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K-Means provided slightly better separation than Hierarchical clustering in this dataset.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549379" y="2242969"/>
            <a:ext cx="146207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Selection: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853962" y="9206444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7"/>
                </a:lnTo>
                <a:lnTo>
                  <a:pt x="0" y="40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43346" y="1893861"/>
            <a:ext cx="6498261" cy="6375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Clust</a:t>
            </a: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er Characteristics:</a:t>
            </a:r>
          </a:p>
          <a:p>
            <a:pPr algn="just">
              <a:lnSpc>
                <a:spcPts val="2039"/>
              </a:lnSpc>
            </a:pP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0 (Savers): High Income, Low Spending.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1 (Standard): Average Income, Average Spending.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2 (Target/Premium): High Income, High Spending.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3 (Careless): Low Income, High Spending.</a:t>
            </a: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Cluster 4 (Sensible): Low Income, Low Spending.</a:t>
            </a:r>
          </a:p>
          <a:p>
            <a:pPr algn="just">
              <a:lnSpc>
                <a:spcPts val="3400"/>
              </a:lnSpc>
            </a:pP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Recommendation:</a:t>
            </a:r>
          </a:p>
          <a:p>
            <a:pPr algn="just">
              <a:lnSpc>
                <a:spcPts val="2039"/>
              </a:lnSpc>
            </a:pPr>
          </a:p>
          <a:p>
            <a:pPr algn="just" marL="388622" indent="-194311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Target Group: Cluster 2 (High Income/High Spend) for luxury items.</a:t>
            </a:r>
          </a:p>
          <a:p>
            <a:pPr algn="just" marL="388622" indent="-194311" lvl="1">
              <a:lnSpc>
                <a:spcPts val="306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Strategy: Marketing campaigns should focus on retention for Cluster 2 and conversion for Cluster 1.</a:t>
            </a:r>
          </a:p>
          <a:p>
            <a:pPr algn="just">
              <a:lnSpc>
                <a:spcPts val="3060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4000279" y="7276061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359433" y="7491426"/>
            <a:ext cx="4442597" cy="945061"/>
          </a:xfrm>
          <a:custGeom>
            <a:avLst/>
            <a:gdLst/>
            <a:ahLst/>
            <a:cxnLst/>
            <a:rect r="r" b="b" t="t" l="l"/>
            <a:pathLst>
              <a:path h="945061" w="4442597">
                <a:moveTo>
                  <a:pt x="0" y="0"/>
                </a:moveTo>
                <a:lnTo>
                  <a:pt x="4442597" y="0"/>
                </a:lnTo>
                <a:lnTo>
                  <a:pt x="4442597" y="945061"/>
                </a:lnTo>
                <a:lnTo>
                  <a:pt x="0" y="94506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3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115482" y="3654903"/>
            <a:ext cx="7526502" cy="3093720"/>
          </a:xfrm>
          <a:custGeom>
            <a:avLst/>
            <a:gdLst/>
            <a:ahLst/>
            <a:cxnLst/>
            <a:rect r="r" b="b" t="t" l="l"/>
            <a:pathLst>
              <a:path h="3093720" w="7526502">
                <a:moveTo>
                  <a:pt x="0" y="0"/>
                </a:moveTo>
                <a:lnTo>
                  <a:pt x="7526502" y="0"/>
                </a:lnTo>
                <a:lnTo>
                  <a:pt x="7526502" y="3093720"/>
                </a:lnTo>
                <a:lnTo>
                  <a:pt x="0" y="309372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-50152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15482" y="6889628"/>
            <a:ext cx="3749885" cy="3093720"/>
          </a:xfrm>
          <a:custGeom>
            <a:avLst/>
            <a:gdLst/>
            <a:ahLst/>
            <a:cxnLst/>
            <a:rect r="r" b="b" t="t" l="l"/>
            <a:pathLst>
              <a:path h="3093720" w="3749885">
                <a:moveTo>
                  <a:pt x="0" y="0"/>
                </a:moveTo>
                <a:lnTo>
                  <a:pt x="3749885" y="0"/>
                </a:lnTo>
                <a:lnTo>
                  <a:pt x="3749885" y="3093719"/>
                </a:lnTo>
                <a:lnTo>
                  <a:pt x="0" y="30937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201376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135697" y="8848684"/>
            <a:ext cx="3588225" cy="989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 Part B </a:t>
            </a:r>
          </a:p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Analysis &amp; Time Series Decomposition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29835" y="1571625"/>
            <a:ext cx="8966999" cy="197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A - Results &amp; Cluster Profiles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8584" y="923187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7"/>
                </a:lnTo>
                <a:lnTo>
                  <a:pt x="0" y="40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335365" y="7637170"/>
            <a:ext cx="2823505" cy="1072932"/>
          </a:xfrm>
          <a:custGeom>
            <a:avLst/>
            <a:gdLst/>
            <a:ahLst/>
            <a:cxnLst/>
            <a:rect r="r" b="b" t="t" l="l"/>
            <a:pathLst>
              <a:path h="1072932" w="2823505">
                <a:moveTo>
                  <a:pt x="0" y="0"/>
                </a:moveTo>
                <a:lnTo>
                  <a:pt x="2823505" y="0"/>
                </a:lnTo>
                <a:lnTo>
                  <a:pt x="2823505" y="1072932"/>
                </a:lnTo>
                <a:lnTo>
                  <a:pt x="0" y="10729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664953" y="2445383"/>
            <a:ext cx="7835908" cy="2616473"/>
          </a:xfrm>
          <a:custGeom>
            <a:avLst/>
            <a:gdLst/>
            <a:ahLst/>
            <a:cxnLst/>
            <a:rect r="r" b="b" t="t" l="l"/>
            <a:pathLst>
              <a:path h="2616473" w="7835908">
                <a:moveTo>
                  <a:pt x="0" y="0"/>
                </a:moveTo>
                <a:lnTo>
                  <a:pt x="7835908" y="0"/>
                </a:lnTo>
                <a:lnTo>
                  <a:pt x="7835908" y="2616473"/>
                </a:lnTo>
                <a:lnTo>
                  <a:pt x="0" y="26164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31214" b="-170164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17692" y="5143500"/>
            <a:ext cx="2789607" cy="2493670"/>
          </a:xfrm>
          <a:custGeom>
            <a:avLst/>
            <a:gdLst/>
            <a:ahLst/>
            <a:cxnLst/>
            <a:rect r="r" b="b" t="t" l="l"/>
            <a:pathLst>
              <a:path h="2493670" w="2789607">
                <a:moveTo>
                  <a:pt x="0" y="0"/>
                </a:moveTo>
                <a:lnTo>
                  <a:pt x="2789606" y="0"/>
                </a:lnTo>
                <a:lnTo>
                  <a:pt x="2789606" y="2493670"/>
                </a:lnTo>
                <a:lnTo>
                  <a:pt x="0" y="2493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313034" t="-18264" r="0" b="-19939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236249" y="9050337"/>
            <a:ext cx="386871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B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Modeling Strategy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888645"/>
            <a:ext cx="8636253" cy="2518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20"/>
              </a:lnSpc>
            </a:pPr>
            <a:r>
              <a:rPr lang="en-US" sz="6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B - Data Analysis &amp; Time Series Decomposition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7741" y="4938031"/>
            <a:ext cx="11606608" cy="4718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Objective: </a:t>
            </a:r>
          </a:p>
          <a:p>
            <a:pPr algn="just" marL="388622" indent="-194311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orecast Gas, Electricity, and Water consumption for the next 60 months.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Overview: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Monthly data (1990-2023).</a:t>
            </a:r>
          </a:p>
          <a:p>
            <a:pPr algn="just">
              <a:lnSpc>
                <a:spcPts val="3060"/>
              </a:lnSpc>
            </a:pPr>
          </a:p>
          <a:p>
            <a:pPr algn="just" marL="388620" indent="-194310" lvl="1">
              <a:lnSpc>
                <a:spcPts val="3060"/>
              </a:lnSpc>
              <a:buFont typeface="Arial"/>
              <a:buChar char="•"/>
            </a:pPr>
            <a:r>
              <a:rPr lang="en-US" b="true" sz="18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Stationarity Check (ADF Test):</a:t>
            </a:r>
          </a:p>
          <a:p>
            <a:pPr algn="just" marL="388620" indent="-194310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Checked if mean and variance were constant over time.</a:t>
            </a:r>
          </a:p>
          <a:p>
            <a:pPr algn="just" marL="388622" indent="-194311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Most data was non-stationary, requiring differencing (integrated d parameter) for ARIMA models.</a:t>
            </a:r>
          </a:p>
          <a:p>
            <a:pPr algn="just">
              <a:lnSpc>
                <a:spcPts val="3060"/>
              </a:lnSpc>
            </a:pP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Decomposition:</a:t>
            </a:r>
          </a:p>
          <a:p>
            <a:pPr algn="just" marL="388622" indent="-194311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Trend: Observed long-term usage trends.</a:t>
            </a:r>
          </a:p>
          <a:p>
            <a:pPr algn="just" marL="388622" indent="-194311" lvl="1">
              <a:lnSpc>
                <a:spcPts val="3060"/>
              </a:lnSpc>
              <a:buAutoNum type="arabicPeriod" startAt="1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Seasonality: Strong yearly patterns found in all three variables (e.g., Gas peaks in winter, Electricity in summer).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8584" y="923187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7"/>
                </a:lnTo>
                <a:lnTo>
                  <a:pt x="0" y="40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003567" y="2055173"/>
            <a:ext cx="8255733" cy="1972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9"/>
              </a:lnSpc>
            </a:pPr>
            <a:r>
              <a:rPr lang="en-US" sz="6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B - Modeling Strategy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1361862" y="8354757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0" y="0"/>
                </a:moveTo>
                <a:lnTo>
                  <a:pt x="5447285" y="0"/>
                </a:lnTo>
                <a:lnTo>
                  <a:pt x="5447285" y="891374"/>
                </a:lnTo>
                <a:lnTo>
                  <a:pt x="0" y="891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5007655" y="1837212"/>
            <a:ext cx="5447285" cy="891374"/>
          </a:xfrm>
          <a:custGeom>
            <a:avLst/>
            <a:gdLst/>
            <a:ahLst/>
            <a:cxnLst/>
            <a:rect r="r" b="b" t="t" l="l"/>
            <a:pathLst>
              <a:path h="891374" w="5447285">
                <a:moveTo>
                  <a:pt x="5447285" y="0"/>
                </a:moveTo>
                <a:lnTo>
                  <a:pt x="0" y="0"/>
                </a:lnTo>
                <a:lnTo>
                  <a:pt x="0" y="891373"/>
                </a:lnTo>
                <a:lnTo>
                  <a:pt x="5447285" y="891373"/>
                </a:lnTo>
                <a:lnTo>
                  <a:pt x="5447285" y="0"/>
                </a:lnTo>
                <a:close/>
              </a:path>
            </a:pathLst>
          </a:custGeom>
          <a:blipFill>
            <a:blip r:embed="rId4">
              <a:alphaModFix amt="3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229819" y="4466485"/>
            <a:ext cx="9803228" cy="2113072"/>
          </a:xfrm>
          <a:custGeom>
            <a:avLst/>
            <a:gdLst/>
            <a:ahLst/>
            <a:cxnLst/>
            <a:rect r="r" b="b" t="t" l="l"/>
            <a:pathLst>
              <a:path h="2113072" w="9803228">
                <a:moveTo>
                  <a:pt x="0" y="0"/>
                </a:moveTo>
                <a:lnTo>
                  <a:pt x="9803228" y="0"/>
                </a:lnTo>
                <a:lnTo>
                  <a:pt x="9803228" y="2113072"/>
                </a:lnTo>
                <a:lnTo>
                  <a:pt x="0" y="211307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-207935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77682" y="9050337"/>
            <a:ext cx="4927278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B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Evaluation &amp; Hyperparameter Tuning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2585710"/>
            <a:ext cx="6806194" cy="5457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Split: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rain (70%) / Validation (15%) / Test (15%).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Used temporal splitting (past vs future), not random shuffling, to preserve time order.</a:t>
            </a:r>
          </a:p>
          <a:p>
            <a:pPr algn="just">
              <a:lnSpc>
                <a:spcPts val="4249"/>
              </a:lnSpc>
            </a:pPr>
          </a:p>
          <a:p>
            <a:pPr algn="just" marL="539749" indent="-269875" lvl="1">
              <a:lnSpc>
                <a:spcPts val="4249"/>
              </a:lnSpc>
              <a:buFont typeface="Arial"/>
              <a:buChar char="•"/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Models Applied: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Gas: ARIMA (Auto-Regressive Integrated Moving Average) - Best for trend/noise.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Electricity: SARIMA (Seasonal ARIMA) - Explicitly handles the strong seasonal waves observed.</a:t>
            </a:r>
          </a:p>
          <a:p>
            <a:pPr algn="just" marL="431801" indent="-215900" lvl="1">
              <a:lnSpc>
                <a:spcPts val="3400"/>
              </a:lnSpc>
              <a:buAutoNum type="arabicPeriod" startAt="1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Water: Holt-Winters Exponential Smoothing - Handles trend and seasonality efficiently.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18584" y="905563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8"/>
                </a:lnTo>
                <a:lnTo>
                  <a:pt x="0" y="405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14352" y="3401878"/>
            <a:ext cx="4631530" cy="3219113"/>
            <a:chOff x="0" y="0"/>
            <a:chExt cx="652840" cy="4537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2840" cy="453752"/>
            </a:xfrm>
            <a:custGeom>
              <a:avLst/>
              <a:gdLst/>
              <a:ahLst/>
              <a:cxnLst/>
              <a:rect r="r" b="b" t="t" l="l"/>
              <a:pathLst>
                <a:path h="453752" w="652840">
                  <a:moveTo>
                    <a:pt x="33431" y="0"/>
                  </a:moveTo>
                  <a:lnTo>
                    <a:pt x="619408" y="0"/>
                  </a:lnTo>
                  <a:cubicBezTo>
                    <a:pt x="637872" y="0"/>
                    <a:pt x="652840" y="14968"/>
                    <a:pt x="652840" y="33431"/>
                  </a:cubicBezTo>
                  <a:lnTo>
                    <a:pt x="652840" y="420320"/>
                  </a:lnTo>
                  <a:cubicBezTo>
                    <a:pt x="652840" y="438784"/>
                    <a:pt x="637872" y="453752"/>
                    <a:pt x="619408" y="453752"/>
                  </a:cubicBezTo>
                  <a:lnTo>
                    <a:pt x="33431" y="453752"/>
                  </a:lnTo>
                  <a:cubicBezTo>
                    <a:pt x="24565" y="453752"/>
                    <a:pt x="16061" y="450229"/>
                    <a:pt x="9792" y="443960"/>
                  </a:cubicBezTo>
                  <a:cubicBezTo>
                    <a:pt x="3522" y="437690"/>
                    <a:pt x="0" y="429187"/>
                    <a:pt x="0" y="420320"/>
                  </a:cubicBezTo>
                  <a:lnTo>
                    <a:pt x="0" y="33431"/>
                  </a:lnTo>
                  <a:cubicBezTo>
                    <a:pt x="0" y="14968"/>
                    <a:pt x="14968" y="0"/>
                    <a:pt x="33431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52840" cy="49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97822" y="514350"/>
            <a:ext cx="16230600" cy="1028700"/>
            <a:chOff x="0" y="0"/>
            <a:chExt cx="2287793" cy="1450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7262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6990744" y="3884438"/>
            <a:ext cx="4631530" cy="2736553"/>
            <a:chOff x="0" y="0"/>
            <a:chExt cx="652840" cy="3857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52840" cy="385732"/>
            </a:xfrm>
            <a:custGeom>
              <a:avLst/>
              <a:gdLst/>
              <a:ahLst/>
              <a:cxnLst/>
              <a:rect r="r" b="b" t="t" l="l"/>
              <a:pathLst>
                <a:path h="385732" w="652840">
                  <a:moveTo>
                    <a:pt x="33431" y="0"/>
                  </a:moveTo>
                  <a:lnTo>
                    <a:pt x="619408" y="0"/>
                  </a:lnTo>
                  <a:cubicBezTo>
                    <a:pt x="637872" y="0"/>
                    <a:pt x="652840" y="14968"/>
                    <a:pt x="652840" y="33431"/>
                  </a:cubicBezTo>
                  <a:lnTo>
                    <a:pt x="652840" y="352301"/>
                  </a:lnTo>
                  <a:cubicBezTo>
                    <a:pt x="652840" y="370765"/>
                    <a:pt x="637872" y="385732"/>
                    <a:pt x="619408" y="385732"/>
                  </a:cubicBezTo>
                  <a:lnTo>
                    <a:pt x="33431" y="385732"/>
                  </a:lnTo>
                  <a:cubicBezTo>
                    <a:pt x="14968" y="385732"/>
                    <a:pt x="0" y="370765"/>
                    <a:pt x="0" y="352301"/>
                  </a:cubicBezTo>
                  <a:lnTo>
                    <a:pt x="0" y="33431"/>
                  </a:lnTo>
                  <a:cubicBezTo>
                    <a:pt x="0" y="14968"/>
                    <a:pt x="14968" y="0"/>
                    <a:pt x="33431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52840" cy="423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2767137" y="3884438"/>
            <a:ext cx="4631530" cy="2736553"/>
            <a:chOff x="0" y="0"/>
            <a:chExt cx="652840" cy="38573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2840" cy="385732"/>
            </a:xfrm>
            <a:custGeom>
              <a:avLst/>
              <a:gdLst/>
              <a:ahLst/>
              <a:cxnLst/>
              <a:rect r="r" b="b" t="t" l="l"/>
              <a:pathLst>
                <a:path h="385732" w="652840">
                  <a:moveTo>
                    <a:pt x="33431" y="0"/>
                  </a:moveTo>
                  <a:lnTo>
                    <a:pt x="619408" y="0"/>
                  </a:lnTo>
                  <a:cubicBezTo>
                    <a:pt x="637872" y="0"/>
                    <a:pt x="652840" y="14968"/>
                    <a:pt x="652840" y="33431"/>
                  </a:cubicBezTo>
                  <a:lnTo>
                    <a:pt x="652840" y="352301"/>
                  </a:lnTo>
                  <a:cubicBezTo>
                    <a:pt x="652840" y="370765"/>
                    <a:pt x="637872" y="385732"/>
                    <a:pt x="619408" y="385732"/>
                  </a:cubicBezTo>
                  <a:lnTo>
                    <a:pt x="33431" y="385732"/>
                  </a:lnTo>
                  <a:cubicBezTo>
                    <a:pt x="14968" y="385732"/>
                    <a:pt x="0" y="370765"/>
                    <a:pt x="0" y="352301"/>
                  </a:cubicBezTo>
                  <a:lnTo>
                    <a:pt x="0" y="33431"/>
                  </a:lnTo>
                  <a:cubicBezTo>
                    <a:pt x="0" y="14968"/>
                    <a:pt x="14968" y="0"/>
                    <a:pt x="33431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52840" cy="4238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418930" y="6944841"/>
            <a:ext cx="9102284" cy="3026509"/>
          </a:xfrm>
          <a:custGeom>
            <a:avLst/>
            <a:gdLst/>
            <a:ahLst/>
            <a:cxnLst/>
            <a:rect r="r" b="b" t="t" l="l"/>
            <a:pathLst>
              <a:path h="3026509" w="9102284">
                <a:moveTo>
                  <a:pt x="0" y="0"/>
                </a:moveTo>
                <a:lnTo>
                  <a:pt x="9102284" y="0"/>
                </a:lnTo>
                <a:lnTo>
                  <a:pt x="9102284" y="3026509"/>
                </a:lnTo>
                <a:lnTo>
                  <a:pt x="0" y="302650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2236249" y="9050337"/>
            <a:ext cx="386871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Part B 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60-Month Forecast Results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10453" y="1719669"/>
            <a:ext cx="10793514" cy="184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55"/>
              </a:lnSpc>
            </a:pPr>
            <a:r>
              <a:rPr lang="en-US" sz="65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Part B - Evaluation &amp; Hyperparameter Tuning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2500" y="3527190"/>
            <a:ext cx="4415233" cy="291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Tuning Process:</a:t>
            </a:r>
          </a:p>
          <a:p>
            <a:pPr algn="ctr">
              <a:lnSpc>
                <a:spcPts val="2799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Grid Se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arch: Looped through combinations of (p,d,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</a:t>
            </a: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 parameters to find the lowest AIC (Akaike Information Criterion).</a:t>
            </a:r>
          </a:p>
          <a:p>
            <a:pPr algn="ctr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Validation: Tested models on the 15% validation set before final testing.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22894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698957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967863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144476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029771" y="4177288"/>
            <a:ext cx="4415233" cy="1789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Performance</a:t>
            </a: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Met</a:t>
            </a: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rics:</a:t>
            </a:r>
          </a:p>
          <a:p>
            <a:pPr algn="ctr">
              <a:lnSpc>
                <a:spcPts val="1399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MAE (Mean Absolute Error): Average magnitude of errors.</a:t>
            </a:r>
          </a:p>
          <a:p>
            <a:pPr algn="ctr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RMSE (Root Mean Squared Error): Penalizes large errors more heavily.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75285" y="4061489"/>
            <a:ext cx="4415233" cy="24185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Resul</a:t>
            </a: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</a:t>
            </a:r>
            <a:r>
              <a:rPr lang="en-US" sz="19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s:</a:t>
            </a:r>
          </a:p>
          <a:p>
            <a:pPr algn="ctr">
              <a:lnSpc>
                <a:spcPts val="1399"/>
              </a:lnSpc>
            </a:pP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Gas: ARIMA provided the lowest error.</a:t>
            </a:r>
          </a:p>
          <a:p>
            <a:pPr algn="ctr" marL="388620" indent="-194310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Electricity: SARIMA successfully captured the seasonal peaks.</a:t>
            </a:r>
          </a:p>
          <a:p>
            <a:pPr algn="ctr" marL="388620" indent="-194310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Water: Holt-Winters was the most robust for water patterns.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328109" y="9231871"/>
            <a:ext cx="405338" cy="405338"/>
          </a:xfrm>
          <a:custGeom>
            <a:avLst/>
            <a:gdLst/>
            <a:ahLst/>
            <a:cxnLst/>
            <a:rect r="r" b="b" t="t" l="l"/>
            <a:pathLst>
              <a:path h="405338" w="405338">
                <a:moveTo>
                  <a:pt x="0" y="0"/>
                </a:moveTo>
                <a:lnTo>
                  <a:pt x="405338" y="0"/>
                </a:lnTo>
                <a:lnTo>
                  <a:pt x="405338" y="405337"/>
                </a:lnTo>
                <a:lnTo>
                  <a:pt x="0" y="405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38225" y="514350"/>
            <a:ext cx="16230600" cy="1028700"/>
            <a:chOff x="0" y="0"/>
            <a:chExt cx="2287793" cy="1450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6328109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97665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499818" y="3055690"/>
            <a:ext cx="6224104" cy="5438311"/>
          </a:xfrm>
          <a:custGeom>
            <a:avLst/>
            <a:gdLst/>
            <a:ahLst/>
            <a:cxnLst/>
            <a:rect r="r" b="b" t="t" l="l"/>
            <a:pathLst>
              <a:path h="5438311" w="6224104">
                <a:moveTo>
                  <a:pt x="0" y="0"/>
                </a:moveTo>
                <a:lnTo>
                  <a:pt x="6224104" y="0"/>
                </a:lnTo>
                <a:lnTo>
                  <a:pt x="6224104" y="5438310"/>
                </a:lnTo>
                <a:lnTo>
                  <a:pt x="0" y="543831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236249" y="9050337"/>
            <a:ext cx="3868711" cy="711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Next Slide: Conclusion &amp; Recommendations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647" y="1922863"/>
            <a:ext cx="10777789" cy="228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60-Month Forecast Results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28647" y="4445691"/>
            <a:ext cx="7943667" cy="4064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Final Execution: </a:t>
            </a: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Retrained best models on the entire dataset to maximize learning.</a:t>
            </a:r>
          </a:p>
          <a:p>
            <a:pPr algn="just">
              <a:lnSpc>
                <a:spcPts val="1699"/>
              </a:lnSpc>
            </a:pPr>
          </a:p>
          <a:p>
            <a:pPr algn="just">
              <a:lnSpc>
                <a:spcPts val="3400"/>
              </a:lnSpc>
            </a:pPr>
            <a:r>
              <a:rPr lang="en-US" b="true" sz="20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Forecast (Next 5 Years):</a:t>
            </a:r>
          </a:p>
          <a:p>
            <a:pPr algn="l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Gas: Predicted to [increase/decrease/stabilize] based on the trend line.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Electricity: Continued seasonal volatility with an upward trend.</a:t>
            </a:r>
          </a:p>
          <a:p>
            <a:pPr algn="just" marL="431801" indent="-215900" lvl="1">
              <a:lnSpc>
                <a:spcPts val="34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Water: Stable seasonal patterns.</a:t>
            </a:r>
          </a:p>
          <a:p>
            <a:pPr algn="just">
              <a:lnSpc>
                <a:spcPts val="340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2163297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39360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908266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84880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131D">
                <a:alpha val="100000"/>
              </a:srgbClr>
            </a:gs>
            <a:gs pos="100000">
              <a:srgbClr val="0F2E4A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20135" y="4176690"/>
            <a:ext cx="14019400" cy="5081610"/>
            <a:chOff x="0" y="0"/>
            <a:chExt cx="1976112" cy="7162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76112" cy="716281"/>
            </a:xfrm>
            <a:custGeom>
              <a:avLst/>
              <a:gdLst/>
              <a:ahLst/>
              <a:cxnLst/>
              <a:rect r="r" b="b" t="t" l="l"/>
              <a:pathLst>
                <a:path h="716281" w="1976112">
                  <a:moveTo>
                    <a:pt x="11045" y="0"/>
                  </a:moveTo>
                  <a:lnTo>
                    <a:pt x="1965067" y="0"/>
                  </a:lnTo>
                  <a:cubicBezTo>
                    <a:pt x="1967996" y="0"/>
                    <a:pt x="1970806" y="1164"/>
                    <a:pt x="1972877" y="3235"/>
                  </a:cubicBezTo>
                  <a:cubicBezTo>
                    <a:pt x="1974948" y="5306"/>
                    <a:pt x="1976112" y="8115"/>
                    <a:pt x="1976112" y="11045"/>
                  </a:cubicBezTo>
                  <a:lnTo>
                    <a:pt x="1976112" y="705236"/>
                  </a:lnTo>
                  <a:cubicBezTo>
                    <a:pt x="1976112" y="708166"/>
                    <a:pt x="1974948" y="710975"/>
                    <a:pt x="1972877" y="713046"/>
                  </a:cubicBezTo>
                  <a:cubicBezTo>
                    <a:pt x="1970806" y="715117"/>
                    <a:pt x="1967996" y="716281"/>
                    <a:pt x="1965067" y="716281"/>
                  </a:cubicBezTo>
                  <a:lnTo>
                    <a:pt x="11045" y="716281"/>
                  </a:lnTo>
                  <a:cubicBezTo>
                    <a:pt x="8115" y="716281"/>
                    <a:pt x="5306" y="715117"/>
                    <a:pt x="3235" y="713046"/>
                  </a:cubicBezTo>
                  <a:cubicBezTo>
                    <a:pt x="1164" y="710975"/>
                    <a:pt x="0" y="708166"/>
                    <a:pt x="0" y="705236"/>
                  </a:cubicBezTo>
                  <a:lnTo>
                    <a:pt x="0" y="11045"/>
                  </a:lnTo>
                  <a:cubicBezTo>
                    <a:pt x="0" y="8115"/>
                    <a:pt x="1164" y="5306"/>
                    <a:pt x="3235" y="3235"/>
                  </a:cubicBezTo>
                  <a:cubicBezTo>
                    <a:pt x="5306" y="1164"/>
                    <a:pt x="8115" y="0"/>
                    <a:pt x="11045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976112" cy="75438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891987"/>
            <a:ext cx="10391582" cy="2284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60"/>
              </a:lnSpc>
            </a:pPr>
            <a:r>
              <a:rPr lang="en-US" sz="8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 &amp; Recommendations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78959" y="4824390"/>
            <a:ext cx="13757832" cy="4143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Summary: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Successfully segmented cust</a:t>
            </a: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omers into 5 actionable groups using K-Means.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Generated accurate 5-year forecasts for energy resources using Time Series analysis.</a:t>
            </a:r>
          </a:p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Business Recommendations: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Marketing: Tailor campaigns for the "High Income/High Spend" cluster.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Operations: Plan energy inventory based on the forecasted seasonal peaks to prevent shortages.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Strategy: Use the forecasts to budget for rising electricity demand.</a:t>
            </a:r>
          </a:p>
          <a:p>
            <a:pPr algn="ctr">
              <a:lnSpc>
                <a:spcPts val="3499"/>
              </a:lnSpc>
            </a:pPr>
            <a:r>
              <a:rPr lang="en-US" b="true" sz="249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Next Steps: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Integrate demographic data into energy forecasting (e.g., population growth).</a:t>
            </a:r>
          </a:p>
          <a:p>
            <a:pPr algn="ctr" marL="431799" indent="-215899" lvl="1">
              <a:lnSpc>
                <a:spcPts val="2799"/>
              </a:lnSpc>
              <a:buFont typeface="Arial"/>
              <a:buChar char="•"/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Test LSTM (Deep Learning) for potentially better long-term forecasting.</a:t>
            </a:r>
          </a:p>
          <a:p>
            <a:pPr algn="ctr">
              <a:lnSpc>
                <a:spcPts val="2799"/>
              </a:lnSpc>
              <a:spcBef>
                <a:spcPct val="0"/>
              </a:spcBef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1028700" y="514350"/>
            <a:ext cx="16230600" cy="1028700"/>
            <a:chOff x="0" y="0"/>
            <a:chExt cx="2287793" cy="1450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287793" cy="145001"/>
            </a:xfrm>
            <a:custGeom>
              <a:avLst/>
              <a:gdLst/>
              <a:ahLst/>
              <a:cxnLst/>
              <a:rect r="r" b="b" t="t" l="l"/>
              <a:pathLst>
                <a:path h="145001" w="2287793">
                  <a:moveTo>
                    <a:pt x="9540" y="0"/>
                  </a:moveTo>
                  <a:lnTo>
                    <a:pt x="2278253" y="0"/>
                  </a:lnTo>
                  <a:cubicBezTo>
                    <a:pt x="2280783" y="0"/>
                    <a:pt x="2283209" y="1005"/>
                    <a:pt x="2284999" y="2794"/>
                  </a:cubicBezTo>
                  <a:cubicBezTo>
                    <a:pt x="2286788" y="4583"/>
                    <a:pt x="2287793" y="7010"/>
                    <a:pt x="2287793" y="9540"/>
                  </a:cubicBezTo>
                  <a:lnTo>
                    <a:pt x="2287793" y="135461"/>
                  </a:lnTo>
                  <a:cubicBezTo>
                    <a:pt x="2287793" y="137991"/>
                    <a:pt x="2286788" y="140418"/>
                    <a:pt x="2284999" y="142207"/>
                  </a:cubicBezTo>
                  <a:cubicBezTo>
                    <a:pt x="2283209" y="143996"/>
                    <a:pt x="2280783" y="145001"/>
                    <a:pt x="2278253" y="145001"/>
                  </a:cubicBezTo>
                  <a:lnTo>
                    <a:pt x="9540" y="145001"/>
                  </a:lnTo>
                  <a:cubicBezTo>
                    <a:pt x="4271" y="145001"/>
                    <a:pt x="0" y="140730"/>
                    <a:pt x="0" y="135461"/>
                  </a:cubicBezTo>
                  <a:lnTo>
                    <a:pt x="0" y="9540"/>
                  </a:lnTo>
                  <a:cubicBezTo>
                    <a:pt x="0" y="4271"/>
                    <a:pt x="4271" y="0"/>
                    <a:pt x="9540" y="0"/>
                  </a:cubicBezTo>
                  <a:close/>
                </a:path>
              </a:pathLst>
            </a:custGeom>
            <a:solidFill>
              <a:srgbClr val="244389">
                <a:alpha val="18824"/>
              </a:srgbClr>
            </a:solidFill>
            <a:ln w="38100" cap="sq">
              <a:solidFill>
                <a:srgbClr val="FFFFFF">
                  <a:alpha val="18824"/>
                </a:srgbClr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287793" cy="183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6318584" y="860317"/>
            <a:ext cx="336766" cy="336766"/>
          </a:xfrm>
          <a:custGeom>
            <a:avLst/>
            <a:gdLst/>
            <a:ahLst/>
            <a:cxnLst/>
            <a:rect r="r" b="b" t="t" l="l"/>
            <a:pathLst>
              <a:path h="336766" w="336766">
                <a:moveTo>
                  <a:pt x="0" y="0"/>
                </a:moveTo>
                <a:lnTo>
                  <a:pt x="336765" y="0"/>
                </a:lnTo>
                <a:lnTo>
                  <a:pt x="336765" y="336766"/>
                </a:lnTo>
                <a:lnTo>
                  <a:pt x="0" y="3367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8140" y="779906"/>
            <a:ext cx="490819" cy="444414"/>
          </a:xfrm>
          <a:custGeom>
            <a:avLst/>
            <a:gdLst/>
            <a:ahLst/>
            <a:cxnLst/>
            <a:rect r="r" b="b" t="t" l="l"/>
            <a:pathLst>
              <a:path h="444414" w="490819">
                <a:moveTo>
                  <a:pt x="0" y="0"/>
                </a:moveTo>
                <a:lnTo>
                  <a:pt x="490819" y="0"/>
                </a:lnTo>
                <a:lnTo>
                  <a:pt x="490819" y="444414"/>
                </a:lnTo>
                <a:lnTo>
                  <a:pt x="0" y="4444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153772" y="880383"/>
            <a:ext cx="4677409" cy="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Artificial Intelligence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629835" y="803382"/>
            <a:ext cx="364451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Unsupervised Learning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98741" y="803167"/>
            <a:ext cx="927891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Term 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5355" y="803382"/>
            <a:ext cx="1484674" cy="358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AY 25/26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DAG_femYJOw</dc:identifier>
  <dcterms:modified xsi:type="dcterms:W3CDTF">2011-08-01T06:04:30Z</dcterms:modified>
  <cp:revision>1</cp:revision>
  <dc:title>AIML CA2 Slides </dc:title>
</cp:coreProperties>
</file>